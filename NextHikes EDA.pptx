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2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2B9D8-661A-46AF-A74F-8CD6B3EB339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D0DAB-55FB-401E-8C45-EC4B226A17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45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0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20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6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11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62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23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38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31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71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47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844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2324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20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46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02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392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6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16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07AC58-B9AA-405D-81E1-57CC4E29D3E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43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88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FB31-F006-AEDD-B972-F1DE8CCF5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85801"/>
            <a:ext cx="9144000" cy="1374057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NextHikes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228A4-8847-8390-6FFD-82B29DD9E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7084" y="5250426"/>
            <a:ext cx="3028335" cy="754625"/>
          </a:xfrm>
        </p:spPr>
        <p:txBody>
          <a:bodyPr>
            <a:normAutofit/>
          </a:bodyPr>
          <a:lstStyle/>
          <a:p>
            <a:r>
              <a:rPr lang="en-US" sz="3200" dirty="0"/>
              <a:t>By Shiva Singh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5A6D3-B35A-06BC-1105-C07CF38181F4}"/>
              </a:ext>
            </a:extLst>
          </p:cNvPr>
          <p:cNvSpPr txBox="1"/>
          <p:nvPr/>
        </p:nvSpPr>
        <p:spPr>
          <a:xfrm>
            <a:off x="1327355" y="2963883"/>
            <a:ext cx="9704439" cy="1505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of Large-Scale Retail Transaction Data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94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2995761"/>
            <a:ext cx="1120140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4691211"/>
            <a:ext cx="11201400" cy="967382"/>
          </a:xfrm>
          <a:prstGeom prst="roundRect">
            <a:avLst>
              <a:gd name="adj" fmla="val 7876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1919436"/>
            <a:ext cx="2700337" cy="904875"/>
          </a:xfrm>
          <a:prstGeom prst="roundRect">
            <a:avLst>
              <a:gd name="adj" fmla="val 12631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28987" y="1919436"/>
            <a:ext cx="2700337" cy="904875"/>
          </a:xfrm>
          <a:prstGeom prst="roundRect">
            <a:avLst>
              <a:gd name="adj" fmla="val 12631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62675" y="1919436"/>
            <a:ext cx="2700337" cy="904875"/>
          </a:xfrm>
          <a:prstGeom prst="roundRect">
            <a:avLst>
              <a:gd name="adj" fmla="val 12631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96362" y="1919436"/>
            <a:ext cx="2700337" cy="904875"/>
          </a:xfrm>
          <a:prstGeom prst="roundRect">
            <a:avLst>
              <a:gd name="adj" fmla="val 12631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314575" y="3491061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14575" y="3786336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14575" y="4081611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14575" y="3491061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14575" y="3786336"/>
            <a:ext cx="8213080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14575" y="4081611"/>
            <a:ext cx="8138963" cy="209550"/>
          </a:xfrm>
          <a:prstGeom prst="roundRect">
            <a:avLst>
              <a:gd name="adj" fmla="val 27272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3214836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300" y="585029"/>
            <a:ext cx="214513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980703"/>
            <a:ext cx="6799938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Key Revenue Metrics &amp; Operational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3176736"/>
            <a:ext cx="1151572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Average Order Value Across Customer Segments (Visual Breakdown)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" y="4815036"/>
            <a:ext cx="109347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Transaction spending remains remarkably uniform across customer segments (&lt;1.1% variance between New and Premium tiers). Total revenue generation is driven primarily by individual basket quantity and base catalog pricing rather than customer tier categorization.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164" y="2081361"/>
            <a:ext cx="297060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₹641.66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164" y="2462361"/>
            <a:ext cx="29706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Gross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3851" y="2081361"/>
            <a:ext cx="297060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₹64,165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3851" y="2462361"/>
            <a:ext cx="29706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Mean Order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7539" y="2081361"/>
            <a:ext cx="297060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14.81%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7539" y="2462361"/>
            <a:ext cx="29706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Overall Return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1226" y="2081361"/>
            <a:ext cx="297060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100,000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1226" y="2462361"/>
            <a:ext cx="29706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Valid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3495823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Premium 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2725" y="3495823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₹64,430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3791098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Regular 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2725" y="3791098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₹64,303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275" y="4086373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New Segment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2725" y="4086373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₹63,767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14575" y="3491061"/>
            <a:ext cx="82486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₹64,430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14575" y="3786336"/>
            <a:ext cx="823213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₹64,303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4575" y="4081611"/>
            <a:ext cx="815801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₹63,767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5293667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1676846"/>
            <a:ext cx="3619500" cy="1605557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286250" y="1556891"/>
            <a:ext cx="3619500" cy="1845468"/>
          </a:xfrm>
          <a:prstGeom prst="roundRect">
            <a:avLst>
              <a:gd name="adj" fmla="val 6193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77200" y="1676846"/>
            <a:ext cx="3619500" cy="1605557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95300" y="3674715"/>
            <a:ext cx="5495925" cy="1365646"/>
          </a:xfrm>
          <a:prstGeom prst="roundRect">
            <a:avLst>
              <a:gd name="adj" fmla="val 8369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00775" y="3554759"/>
            <a:ext cx="5495925" cy="1605557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300" y="497161"/>
            <a:ext cx="205883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ANALYTICAL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557" y="1084510"/>
            <a:ext cx="5480668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5-Phase Methodological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5417492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A rigorous, multi-stage analytical process ensures that data findings move systematically from descriptive distribution metrics to rigorous statistical testing, guaranteeing data-backed business insights.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1876871"/>
            <a:ext cx="402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PHASE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086421"/>
            <a:ext cx="4024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 Quality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362646"/>
            <a:ext cx="33147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Audited 100,000 transaction records. Verified zero missing values, zero duplicates, and 100% schema integrity.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275" y="1756916"/>
            <a:ext cx="402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PHASE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275" y="1966466"/>
            <a:ext cx="4024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Univariate Profiling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2242691"/>
            <a:ext cx="33147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Calculated mean, median, skewness, and kurtosis. Mapped categorical frequencies across product, customer, and order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1876871"/>
            <a:ext cx="39147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PHASE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225" y="2086421"/>
            <a:ext cx="3914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Outlier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7225" y="2362646"/>
            <a:ext cx="33147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Applied IQR (1,335 outliers) and Z-score (503 outliers) tests. Diagnosed business drivers for full dataset retention.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3874740"/>
            <a:ext cx="6369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PHASE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4084290"/>
            <a:ext cx="6369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Bivariate &amp; 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4360515"/>
            <a:ext cx="51911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Evaluated pairwise feature relationships via Pearson correlation and VIF multicollinearity assessment (VIF ≈ 1.00).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54784"/>
            <a:ext cx="5791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PHASE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64334"/>
            <a:ext cx="5791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Multivariate &amp; ANOVA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40559"/>
            <a:ext cx="51911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Executed Category × Discount × Price interactions and one-way ANOVA hypothesis testing across segments and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5463629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00019" y="1386929"/>
            <a:ext cx="4396680" cy="1228725"/>
          </a:xfrm>
          <a:prstGeom prst="roundRect">
            <a:avLst>
              <a:gd name="adj" fmla="val 9302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00019" y="2749004"/>
            <a:ext cx="4396680" cy="1319807"/>
          </a:xfrm>
          <a:prstGeom prst="roundRect">
            <a:avLst>
              <a:gd name="adj" fmla="val 8660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5300" y="2620416"/>
            <a:ext cx="135656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51868" y="2620416"/>
            <a:ext cx="298192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33788" y="2620416"/>
            <a:ext cx="118705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0841" y="2620416"/>
            <a:ext cx="106962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300" y="3239541"/>
            <a:ext cx="135656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1868" y="3239541"/>
            <a:ext cx="298192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33788" y="3239541"/>
            <a:ext cx="118705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20841" y="3239541"/>
            <a:ext cx="106962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300" y="3858666"/>
            <a:ext cx="135656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51868" y="3858666"/>
            <a:ext cx="298192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33788" y="3858666"/>
            <a:ext cx="118705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20841" y="3858666"/>
            <a:ext cx="106962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" y="4477791"/>
            <a:ext cx="135656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51868" y="4477791"/>
            <a:ext cx="298192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33788" y="4477791"/>
            <a:ext cx="118705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20841" y="4477791"/>
            <a:ext cx="106962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5300" y="5315991"/>
            <a:ext cx="135656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51868" y="5315991"/>
            <a:ext cx="298192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33788" y="5315991"/>
            <a:ext cx="118705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20841" y="5315991"/>
            <a:ext cx="106962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944" y="2949029"/>
            <a:ext cx="152400" cy="171450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95300" y="1386929"/>
          <a:ext cx="6595168" cy="3943350"/>
        </p:xfrm>
        <a:graphic>
          <a:graphicData uri="http://schemas.openxmlformats.org/drawingml/2006/table">
            <a:tbl>
              <a:tblPr/>
              <a:tblGrid>
                <a:gridCol w="135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Variable Group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Specific 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Missing Values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Customer Info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age, gender, city, state, 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Integer / String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0 (100% 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Order Info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order_id, order_date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String / Datetime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0 (100% 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Product Info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category, subcategory, price, quantity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String / Float / 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0 (100% 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Commercial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discount_percentage, final_price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Float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0 (100% 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Fulfillment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payment_method, shipping_type, delivery_days, return_status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String / Integer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47857"/>
                          </a:solidFill>
                          <a:latin typeface="Plus Jakarta Sans"/>
                        </a:rPr>
                        <a:t>0 (100% 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95300" y="392103"/>
            <a:ext cx="23953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DATA HEALTH &amp;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0" y="771674"/>
            <a:ext cx="6525825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100,000 Transaction Records • 18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5587454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The dataset exhibits ideal data hygiene with zero null fields and perfect logical consistency across date formats, prices, and categorical codes, ensuring high reliability for downstream modeling.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653" y="1567904"/>
            <a:ext cx="50434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 COMPLETENESS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653" y="1796504"/>
            <a:ext cx="5043413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100.0%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653" y="2234654"/>
            <a:ext cx="50434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1,800,000 / 1,800,000 Cells Populated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944" y="2910929"/>
            <a:ext cx="4730055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Zero Imputation Standard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944" y="3187154"/>
            <a:ext cx="416808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Complete dataset coverage across 10 metro cities and 9 states. No missing value imputation or row drops were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4549229"/>
            <a:ext cx="11201400" cy="533400"/>
          </a:xfrm>
          <a:prstGeom prst="roundRect">
            <a:avLst>
              <a:gd name="adj" fmla="val 21428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5215979"/>
            <a:ext cx="11201400" cy="736996"/>
          </a:xfrm>
          <a:prstGeom prst="roundRect">
            <a:avLst>
              <a:gd name="adj" fmla="val 10339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300" y="2420391"/>
            <a:ext cx="24928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88171" y="2420391"/>
            <a:ext cx="140999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8168" y="242039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3261" y="242039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08353" y="2420391"/>
            <a:ext cx="1962745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71099" y="2420391"/>
            <a:ext cx="130849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79596" y="2420391"/>
            <a:ext cx="111710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5300" y="2820441"/>
            <a:ext cx="24928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88171" y="2820441"/>
            <a:ext cx="140999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98168" y="282044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53261" y="282044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08353" y="2820441"/>
            <a:ext cx="1962745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71099" y="2820441"/>
            <a:ext cx="130849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579596" y="2820441"/>
            <a:ext cx="111710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5300" y="3220491"/>
            <a:ext cx="24928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88171" y="3220491"/>
            <a:ext cx="140999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98168" y="322049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853261" y="322049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08353" y="3220491"/>
            <a:ext cx="1962745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71099" y="3220491"/>
            <a:ext cx="130849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579596" y="3220491"/>
            <a:ext cx="111710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95300" y="3620541"/>
            <a:ext cx="24928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88171" y="3620541"/>
            <a:ext cx="140999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98168" y="362054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3261" y="362054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08353" y="3620541"/>
            <a:ext cx="1962745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271099" y="3620541"/>
            <a:ext cx="130849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579596" y="3620541"/>
            <a:ext cx="111710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5300" y="4020591"/>
            <a:ext cx="24928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88171" y="4020591"/>
            <a:ext cx="140999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398168" y="402059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53261" y="402059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308353" y="4020591"/>
            <a:ext cx="1962745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71099" y="4020591"/>
            <a:ext cx="130849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579596" y="4020591"/>
            <a:ext cx="111710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5300" y="4420641"/>
            <a:ext cx="24928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88171" y="4420641"/>
            <a:ext cx="140999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98168" y="442064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853261" y="4420641"/>
            <a:ext cx="1455092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308353" y="4420641"/>
            <a:ext cx="1962745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271099" y="4420641"/>
            <a:ext cx="130849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579596" y="4420641"/>
            <a:ext cx="1117103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0134600" y="4692104"/>
            <a:ext cx="1419225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479261"/>
              </p:ext>
            </p:extLst>
          </p:nvPr>
        </p:nvGraphicFramePr>
        <p:xfrm>
          <a:off x="495300" y="1625054"/>
          <a:ext cx="11201396" cy="2809875"/>
        </p:xfrm>
        <a:graphic>
          <a:graphicData uri="http://schemas.openxmlformats.org/drawingml/2006/table">
            <a:tbl>
              <a:tblPr/>
              <a:tblGrid>
                <a:gridCol w="249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2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4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71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Mean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Std 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Min - Max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Skewness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Kurtosis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A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41.56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42.00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13.85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18 - 65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-1.20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roduct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₹30,164.53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₹30,148.00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₹17,139.68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₹500 - ₹59,998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-1.20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Q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uantity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2.50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3.00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1.12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1 - 4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-1.36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D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iscount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percentage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15.01%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15.00%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8.95%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0% - 30%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-1.20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lang="en-IN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F</a:t>
                      </a:r>
                      <a:r>
                        <a:rPr sz="1350" b="1" i="0" u="none" dirty="0" err="1">
                          <a:solidFill>
                            <a:srgbClr val="11382B"/>
                          </a:solidFill>
                          <a:latin typeface="Plus Jakarta Sans"/>
                        </a:rPr>
                        <a:t>inal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p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₹64,165.72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₹49,752.39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₹49,969.28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₹357 - ₹239,980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+0.93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+0.17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15">
                <a:tc>
                  <a:txBody>
                    <a:bodyPr/>
                    <a:lstStyle/>
                    <a:p>
                      <a:pPr algn="l"/>
                      <a:r>
                        <a:rPr lang="en-IN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D</a:t>
                      </a:r>
                      <a:r>
                        <a:rPr sz="1350" b="1" i="0" u="none" dirty="0" err="1">
                          <a:solidFill>
                            <a:srgbClr val="11382B"/>
                          </a:solidFill>
                          <a:latin typeface="Plus Jakarta Sans"/>
                        </a:rPr>
                        <a:t>elivery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d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5.51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5.00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2.87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1 - 10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-1.22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495300" y="361950"/>
            <a:ext cx="22276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UNIVARIATE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 </a:t>
            </a: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PROFILING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047857"/>
              </a:solidFill>
              <a:effectLst/>
              <a:uLnTx/>
              <a:uFillTx/>
              <a:latin typeface="Space Grotesk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5300" y="894877"/>
            <a:ext cx="6020879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Numerical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Moments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&amp; Distribution Skewness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275" y="5339804"/>
            <a:ext cx="10934700" cy="462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Primary parameters (age, catalog price, quantity, discount) exhibit uniform, symmetric distributions (skew ≈ 0). Only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inal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price displays positive skewness (+0.93), created by compounding catalog price and multi-unit quantities.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175" y="4715916"/>
            <a:ext cx="63623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Skewness Profile: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</a:t>
            </a: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inal</a:t>
            </a: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price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(+0.93) is right-skewed due to multi-item high-value orders.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8900" y="4730204"/>
            <a:ext cx="1285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Right-Skewed Tail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4925892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2134641"/>
            <a:ext cx="5676900" cy="2447925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81750" y="2142380"/>
            <a:ext cx="53149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81750" y="3494930"/>
            <a:ext cx="5314950" cy="1079896"/>
          </a:xfrm>
          <a:prstGeom prst="roundRect">
            <a:avLst>
              <a:gd name="adj" fmla="val 10584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14575" y="2629941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14575" y="2925216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314575" y="3220491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14575" y="3515766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14575" y="3811041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14575" y="4106316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43675" y="2618630"/>
            <a:ext cx="1190625" cy="581025"/>
          </a:xfrm>
          <a:prstGeom prst="roundRect">
            <a:avLst>
              <a:gd name="adj" fmla="val 13114"/>
            </a:avLst>
          </a:prstGeom>
          <a:solidFill>
            <a:srgbClr val="E2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10500" y="2618630"/>
            <a:ext cx="1190625" cy="581025"/>
          </a:xfrm>
          <a:prstGeom prst="roundRect">
            <a:avLst>
              <a:gd name="adj" fmla="val 13114"/>
            </a:avLst>
          </a:prstGeom>
          <a:solidFill>
            <a:srgbClr val="E2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77325" y="2618630"/>
            <a:ext cx="1190625" cy="581025"/>
          </a:xfrm>
          <a:prstGeom prst="roundRect">
            <a:avLst>
              <a:gd name="adj" fmla="val 13114"/>
            </a:avLst>
          </a:prstGeom>
          <a:solidFill>
            <a:srgbClr val="E2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344150" y="2618630"/>
            <a:ext cx="1190625" cy="581025"/>
          </a:xfrm>
          <a:prstGeom prst="roundRect">
            <a:avLst>
              <a:gd name="adj" fmla="val 13114"/>
            </a:avLst>
          </a:prstGeom>
          <a:solidFill>
            <a:srgbClr val="E2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14575" y="2629941"/>
            <a:ext cx="2705100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314575" y="2925216"/>
            <a:ext cx="2699593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14575" y="3220491"/>
            <a:ext cx="2667148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14575" y="3515766"/>
            <a:ext cx="2664469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314575" y="3811041"/>
            <a:ext cx="2659112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314575" y="4106316"/>
            <a:ext cx="2645568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63075" y="2694830"/>
            <a:ext cx="619125" cy="238125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353716"/>
            <a:ext cx="1905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342405"/>
            <a:ext cx="19050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3694955"/>
            <a:ext cx="2190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5300" y="590415"/>
            <a:ext cx="269105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CATEGORICAL FREQUENCIES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" y="1115765"/>
            <a:ext cx="7494039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Product Category &amp; Payment Channel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" y="5046213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Transaction volume across product categories, customer tiers, and payment methods is balanced (~16.6% per category, ~25% per payment type), indicating a representative dataset without category dominance.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2315616"/>
            <a:ext cx="6643687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Orders by Product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3675" y="2304305"/>
            <a:ext cx="5648325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Payment Channel 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3675" y="3656855"/>
            <a:ext cx="5648325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Balanced Segment Distribution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3675" y="3933080"/>
            <a:ext cx="5086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Customer base is split into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New (33.5%)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,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Regular (33.4%)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, and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Premium (33.2%)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cohorts with equal representation.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275" y="2634704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8225" y="2634704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16,858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929979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Home &amp; Kitchen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8225" y="2929979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16,825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275" y="3225254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Electronics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8225" y="3225254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16,632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275" y="3520529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Beauty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8225" y="3520529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16,618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275" y="3815804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Grocery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8225" y="3815804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16,574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275" y="4111079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Fashion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8225" y="4111079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16,493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0096" y="2713880"/>
            <a:ext cx="1297781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25.3%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6921" y="2713880"/>
            <a:ext cx="1297781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25.1%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0571" y="2713880"/>
            <a:ext cx="1297781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24.7%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4575" y="2629941"/>
            <a:ext cx="27241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14575" y="2925216"/>
            <a:ext cx="271864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14575" y="3220491"/>
            <a:ext cx="2686198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4575" y="3515766"/>
            <a:ext cx="2683519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16.6%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4575" y="3811041"/>
            <a:ext cx="26781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4575" y="4106316"/>
            <a:ext cx="2664618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16.5%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6050" y="2932955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Credit Card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62875" y="2932955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UPI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77350" y="2713880"/>
            <a:ext cx="7905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24.9%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9699" y="2961223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96525" y="2932955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Debit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3612802"/>
            <a:ext cx="112014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5270152"/>
            <a:ext cx="11201400" cy="736996"/>
          </a:xfrm>
          <a:prstGeom prst="roundRect">
            <a:avLst>
              <a:gd name="adj" fmla="val 10339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1847105"/>
            <a:ext cx="5495925" cy="1613296"/>
          </a:xfrm>
          <a:prstGeom prst="roundRect">
            <a:avLst>
              <a:gd name="adj" fmla="val 7084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00775" y="1847105"/>
            <a:ext cx="5495925" cy="1613296"/>
          </a:xfrm>
          <a:prstGeom prst="roundRect">
            <a:avLst>
              <a:gd name="adj" fmla="val 7084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7225" y="4089052"/>
            <a:ext cx="2080319" cy="609600"/>
          </a:xfrm>
          <a:prstGeom prst="roundRect">
            <a:avLst>
              <a:gd name="adj" fmla="val 9375"/>
            </a:avLst>
          </a:prstGeom>
          <a:solidFill>
            <a:srgbClr val="F0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51844" y="4089052"/>
            <a:ext cx="2080319" cy="609600"/>
          </a:xfrm>
          <a:prstGeom prst="roundRect">
            <a:avLst>
              <a:gd name="adj" fmla="val 9375"/>
            </a:avLst>
          </a:prstGeom>
          <a:solidFill>
            <a:srgbClr val="F0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46464" y="4089052"/>
            <a:ext cx="2080319" cy="609600"/>
          </a:xfrm>
          <a:prstGeom prst="roundRect">
            <a:avLst>
              <a:gd name="adj" fmla="val 9375"/>
            </a:avLst>
          </a:prstGeom>
          <a:solidFill>
            <a:srgbClr val="F0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241083" y="4089052"/>
            <a:ext cx="2080319" cy="609600"/>
          </a:xfrm>
          <a:prstGeom prst="roundRect">
            <a:avLst>
              <a:gd name="adj" fmla="val 9375"/>
            </a:avLst>
          </a:prstGeom>
          <a:solidFill>
            <a:srgbClr val="F0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435703" y="4089052"/>
            <a:ext cx="2099369" cy="609600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812827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2435" y="569981"/>
            <a:ext cx="195983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OUTLIER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" y="1077664"/>
            <a:ext cx="6488956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IQR &amp; Z-Score Statistical Anomaly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3774727"/>
            <a:ext cx="115347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Variable-Level Outlier Count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5402880"/>
            <a:ext cx="10934700" cy="462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Statistical outliers exist exclusively in final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price (1.34% of orders). Zero outliers exist in underlying features (age, catalog price, quantity, discount, delivery duration), confirming a tightly bounded data generation process.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047130"/>
            <a:ext cx="63698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1,335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485280"/>
            <a:ext cx="6369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IQR Method Outliers (1.34%)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2771030"/>
            <a:ext cx="5191125" cy="489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Threshold: Final Price &gt; ₹198,058 [Q3 + 1.5 × IQR]. Confined strictly to final_price.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47130"/>
            <a:ext cx="5791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503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85280"/>
            <a:ext cx="5791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Z-Score Method Outliers (0.50%)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71030"/>
            <a:ext cx="5191125" cy="489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Threshold: |Z-score| &gt; 3.0 Standard Deviations. Confined strictly to final_price.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435" y="4184302"/>
            <a:ext cx="240989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7054" y="4184302"/>
            <a:ext cx="240989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P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roduct</a:t>
            </a: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1674" y="4184302"/>
            <a:ext cx="240989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Q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uantity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D2818"/>
              </a:solidFill>
              <a:effectLst/>
              <a:uLnTx/>
              <a:uFillTx/>
              <a:latin typeface="Plus Jakarta Sans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293" y="4184302"/>
            <a:ext cx="240989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D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iscount</a:t>
            </a: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8531" y="4184302"/>
            <a:ext cx="243371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F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inal</a:t>
            </a:r>
            <a:r>
              <a:rPr lang="en-US" sz="1200" b="1" dirty="0">
                <a:solidFill>
                  <a:srgbClr val="0D2818"/>
                </a:solidFill>
                <a:latin typeface="Plus Jakarta Sans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247" y="4384327"/>
            <a:ext cx="23622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 Outliers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0867" y="4384327"/>
            <a:ext cx="23622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 Outliers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5486" y="4384327"/>
            <a:ext cx="23622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 Outliers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0106" y="4384327"/>
            <a:ext cx="23622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 Outliers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4250" y="4393852"/>
            <a:ext cx="23622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1,335 Outliers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3695551"/>
            <a:ext cx="11201400" cy="1114425"/>
          </a:xfrm>
          <a:prstGeom prst="roundRect">
            <a:avLst>
              <a:gd name="adj" fmla="val 10256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5243959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2027187"/>
            <a:ext cx="3619500" cy="1396007"/>
          </a:xfrm>
          <a:prstGeom prst="roundRect">
            <a:avLst>
              <a:gd name="adj" fmla="val 8187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86250" y="2027187"/>
            <a:ext cx="3619500" cy="1396007"/>
          </a:xfrm>
          <a:prstGeom prst="roundRect">
            <a:avLst>
              <a:gd name="adj" fmla="val 8187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77200" y="1907232"/>
            <a:ext cx="3619500" cy="1635918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265312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2265312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299" y="737082"/>
            <a:ext cx="195124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OUTLIER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99" y="1291084"/>
            <a:ext cx="6269345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Root Cause &amp; Dataset Retention 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3857476"/>
            <a:ext cx="11534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Outlier Transaction Composition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5356501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Outliers represent legitimate high-value commercial sales (4 units of premium electronics/home goods at low discount rates). Removing these records would artificially distort gross revenue calculations.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227212"/>
            <a:ext cx="4024312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Bulk Order Concurrency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503437"/>
            <a:ext cx="33147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100%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of detected outliers correspond to maximum quantity purchases (Quantity = 4 units).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275" y="2227212"/>
            <a:ext cx="4024312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High Catalog Prices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2503437"/>
            <a:ext cx="33147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Average product price for outlier transactions is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₹56,249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, representing valid premium catalog items.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2107257"/>
            <a:ext cx="3914775" cy="2190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100% Data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225" y="2383482"/>
            <a:ext cx="33147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Retained in full because high values reflect valid commercial bulk transactions rather than data entry errors.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152751"/>
            <a:ext cx="43418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Outlier Mean 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4333726"/>
            <a:ext cx="434187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4.0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9324" y="4152751"/>
            <a:ext cx="43418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Outlier Mean Catalog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9324" y="4333726"/>
            <a:ext cx="434187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₹56,249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1424" y="4152751"/>
            <a:ext cx="4130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Outlier Discount Band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1424" y="4333726"/>
            <a:ext cx="41305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6.4% (Low)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1680418"/>
            <a:ext cx="1120140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5170140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3880693"/>
            <a:ext cx="5495925" cy="1156096"/>
          </a:xfrm>
          <a:prstGeom prst="roundRect">
            <a:avLst>
              <a:gd name="adj" fmla="val 9886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00775" y="3880693"/>
            <a:ext cx="5495925" cy="1156096"/>
          </a:xfrm>
          <a:prstGeom prst="roundRect">
            <a:avLst>
              <a:gd name="adj" fmla="val 9886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14575" y="2194768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14575" y="2490043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314575" y="2880568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14575" y="3271093"/>
            <a:ext cx="8229600" cy="209550"/>
          </a:xfrm>
          <a:prstGeom prst="roundRect">
            <a:avLst>
              <a:gd name="adj" fmla="val 27272"/>
            </a:avLst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14575" y="2194768"/>
            <a:ext cx="6015781" cy="209550"/>
          </a:xfrm>
          <a:prstGeom prst="roundRect">
            <a:avLst>
              <a:gd name="adj" fmla="val 27272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14575" y="2490043"/>
            <a:ext cx="4731990" cy="209550"/>
          </a:xfrm>
          <a:prstGeom prst="roundRect">
            <a:avLst>
              <a:gd name="adj" fmla="val 2727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14575" y="2880568"/>
            <a:ext cx="1127373" cy="209550"/>
          </a:xfrm>
          <a:prstGeom prst="roundRect">
            <a:avLst>
              <a:gd name="adj" fmla="val 27272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14575" y="3271093"/>
            <a:ext cx="82153" cy="2095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99493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1249" y="594568"/>
            <a:ext cx="194976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BIVARIATE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1046857"/>
            <a:ext cx="7242367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Catalog Price &amp; Quantity Drive Transaction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1861393"/>
            <a:ext cx="1151572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Pearson Correlation Coefficient with Final Price (r)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" y="5293965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Product price (r = +0.731) and item quantity (r = +0.575) are the main drivers of total transaction revenue. Increasing units per basket is the most direct lever for expanding order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080718"/>
            <a:ext cx="6369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Quantity Progression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356943"/>
            <a:ext cx="51911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Mean cart value scales linearly with item count: 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Q1: ₹25.6k | Q2: ₹51.4k | Q3: ₹76.8k | Q4: ₹102.7k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80718"/>
            <a:ext cx="5791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Discount 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56943"/>
            <a:ext cx="51911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Discounts exhibit a mild negative association (r = -0.137) because higher discounts reduce realized ticket size.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2189231"/>
            <a:ext cx="103073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roduct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2725" y="2199530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 = +0.731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2515567"/>
            <a:ext cx="66364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Q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uantity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2725" y="2494805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 = +0.575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2884065"/>
            <a:ext cx="16192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iscount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percentage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2725" y="2885330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 = -0.137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3275855"/>
            <a:ext cx="30457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281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2725" y="3275855"/>
            <a:ext cx="1143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 = -0.001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4575" y="2194768"/>
            <a:ext cx="603483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+0.731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14575" y="2490043"/>
            <a:ext cx="475104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+0.575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14575" y="2880568"/>
            <a:ext cx="114642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-0.137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14575" y="3271093"/>
            <a:ext cx="10120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-0.001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2028080"/>
            <a:ext cx="112014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3609230"/>
            <a:ext cx="11201400" cy="1079896"/>
          </a:xfrm>
          <a:prstGeom prst="roundRect">
            <a:avLst>
              <a:gd name="adj" fmla="val 10584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4822477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6275" y="2542430"/>
            <a:ext cx="2609850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19475" y="2542430"/>
            <a:ext cx="2609850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62675" y="2542430"/>
            <a:ext cx="2609850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05875" y="2542430"/>
            <a:ext cx="2609850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247155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670768"/>
            <a:ext cx="244175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DEMOGRAPHIC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" y="1161305"/>
            <a:ext cx="7356181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Customer Age Cohorts Display Uniform Spending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209055"/>
            <a:ext cx="11515725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Average Final Order Price Across Customer Age Brackets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3771155"/>
            <a:ext cx="11534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Age Correlation Metric: r = -0.001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4047380"/>
            <a:ext cx="109728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Pearson correlation between customer age and final transaction price is effectively zero (r = -0.001). Spending power is identical across all adult age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4946302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Demographic customer age has zero predictive power over basket value. Marketing strategies targeting premium pricing should focus on product features and category preference rather than age demographic segmentation.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825" y="2666255"/>
            <a:ext cx="2952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18 - 29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25" y="2885330"/>
            <a:ext cx="2952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₹64,013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8025" y="2666255"/>
            <a:ext cx="2952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30 - 45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8025" y="2885330"/>
            <a:ext cx="2952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₹64,303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225" y="2666255"/>
            <a:ext cx="2952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46 - 60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1225" y="2885330"/>
            <a:ext cx="2952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₹64,118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4425" y="2666255"/>
            <a:ext cx="2952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61 - 65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4425" y="2885330"/>
            <a:ext cx="2952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₹64,185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4794795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49492" y="2055762"/>
            <a:ext cx="3847207" cy="1152525"/>
          </a:xfrm>
          <a:prstGeom prst="roundRect">
            <a:avLst>
              <a:gd name="adj" fmla="val 9917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849492" y="3341637"/>
            <a:ext cx="3847207" cy="1319807"/>
          </a:xfrm>
          <a:prstGeom prst="roundRect">
            <a:avLst>
              <a:gd name="adj" fmla="val 8660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5300" y="2934741"/>
            <a:ext cx="30140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09367" y="2934741"/>
            <a:ext cx="111621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25578" y="2934741"/>
            <a:ext cx="113660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62178" y="2934741"/>
            <a:ext cx="187776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300" y="3344316"/>
            <a:ext cx="30140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09367" y="3344316"/>
            <a:ext cx="111621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25578" y="3344316"/>
            <a:ext cx="113660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62178" y="3344316"/>
            <a:ext cx="187776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300" y="3753891"/>
            <a:ext cx="30140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9367" y="3753891"/>
            <a:ext cx="111621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25578" y="3753891"/>
            <a:ext cx="113660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62178" y="3753891"/>
            <a:ext cx="187776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" y="4163466"/>
            <a:ext cx="30140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09367" y="4163466"/>
            <a:ext cx="111621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25578" y="4163466"/>
            <a:ext cx="113660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62178" y="4163466"/>
            <a:ext cx="187776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5300" y="4573041"/>
            <a:ext cx="30140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09367" y="4573041"/>
            <a:ext cx="111621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25578" y="4573041"/>
            <a:ext cx="113660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62178" y="4573041"/>
            <a:ext cx="187776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109607"/>
              </p:ext>
            </p:extLst>
          </p:nvPr>
        </p:nvGraphicFramePr>
        <p:xfrm>
          <a:off x="495300" y="2129879"/>
          <a:ext cx="7144641" cy="2457450"/>
        </p:xfrm>
        <a:graphic>
          <a:graphicData uri="http://schemas.openxmlformats.org/drawingml/2006/table">
            <a:tbl>
              <a:tblPr/>
              <a:tblGrid>
                <a:gridCol w="3014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Feature Pair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Pearson 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VIF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Collinearity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lang="en-IN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roduct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price ↔ 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F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inal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+0.731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None (Clean)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Q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uantity ↔ 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F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inal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+0.575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None (Clean)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D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iscount_% ↔ 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F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inal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-0.137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None (Clean)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A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ge ↔ 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F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inal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-0.001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None (Clean)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lang="en-IN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D</a:t>
                      </a:r>
                      <a:r>
                        <a:rPr sz="1350" b="1" i="0" u="none" dirty="0" err="1">
                          <a:solidFill>
                            <a:srgbClr val="11382B"/>
                          </a:solidFill>
                          <a:latin typeface="Plus Jakarta Sans"/>
                        </a:rPr>
                        <a:t>elivery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days ↔ 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R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eturn</a:t>
                      </a:r>
                      <a:r>
                        <a:rPr lang="en-US"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11382B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+0.0005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47857"/>
                          </a:solidFill>
                          <a:latin typeface="Plus Jakarta Sans"/>
                        </a:rPr>
                        <a:t>None (Clean)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95300" y="776733"/>
            <a:ext cx="191994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CORRELATION &amp; VIF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" y="1272033"/>
            <a:ext cx="6767878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Feature Correlation Heatmap &amp; VIF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" y="4918620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VIF scores of ~1.00 confirm that independent variables are non-collinear. Features can be incorporated directly into machine learning models without variance inflation or instability.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4810" y="2236737"/>
            <a:ext cx="43565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VARIANCE INFLATION 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4810" y="2408187"/>
            <a:ext cx="4356571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1.00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4810" y="2846337"/>
            <a:ext cx="435657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Threshold Concern Level: &gt; 5.0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1417" y="3503562"/>
            <a:ext cx="41805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Predictor Independence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1417" y="3779787"/>
            <a:ext cx="3618607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Independent predictors show zero multicollinearity, ensuring stable regression coefficients for downstream modeling.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4456955"/>
            <a:ext cx="11201400" cy="727471"/>
          </a:xfrm>
          <a:prstGeom prst="roundRect">
            <a:avLst>
              <a:gd name="adj" fmla="val 15711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5317777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300" y="2328118"/>
            <a:ext cx="238928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84586" y="2328118"/>
            <a:ext cx="287729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1880" y="2328118"/>
            <a:ext cx="294158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03468" y="2328118"/>
            <a:ext cx="299323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5300" y="2728168"/>
            <a:ext cx="238928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84586" y="2728168"/>
            <a:ext cx="287729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61880" y="2728168"/>
            <a:ext cx="294158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03468" y="2728168"/>
            <a:ext cx="299323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5300" y="3128218"/>
            <a:ext cx="238928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84586" y="3128218"/>
            <a:ext cx="287729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61880" y="3128218"/>
            <a:ext cx="294158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03468" y="3128218"/>
            <a:ext cx="299323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5300" y="3528268"/>
            <a:ext cx="238928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84586" y="3528268"/>
            <a:ext cx="287729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1880" y="3528268"/>
            <a:ext cx="294158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03468" y="3528268"/>
            <a:ext cx="299323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95300" y="3928318"/>
            <a:ext cx="238928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4586" y="3928318"/>
            <a:ext cx="287729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61880" y="3928318"/>
            <a:ext cx="294158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03468" y="3928318"/>
            <a:ext cx="299323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5300" y="4328368"/>
            <a:ext cx="2389286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84586" y="4328368"/>
            <a:ext cx="2877294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61880" y="4328368"/>
            <a:ext cx="294158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03468" y="4328368"/>
            <a:ext cx="299323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95300" y="1532780"/>
          <a:ext cx="11201398" cy="2809875"/>
        </p:xfrm>
        <a:graphic>
          <a:graphicData uri="http://schemas.openxmlformats.org/drawingml/2006/table">
            <a:tbl>
              <a:tblPr/>
              <a:tblGrid>
                <a:gridCol w="238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1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3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Product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0 - 10% Discount Band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11 - 20% Discount Band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21 - 30% Discount Band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Home &amp; Kitchen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₹73,074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₹64,532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₹56,206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Grocery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₹72,486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₹64,201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₹54,977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Electronics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₹72,086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₹63,845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₹56,085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Beauty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₹71,694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₹63,115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₹56,601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Fashion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₹71,107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₹63,760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₹56,372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Health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₹71,019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₹63,669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₹55,663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95300" y="361950"/>
            <a:ext cx="236725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MULTIVARIATE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300" y="808732"/>
            <a:ext cx="7508466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Category × Discount Band Realized Price Heatmap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" y="4580780"/>
            <a:ext cx="11049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Linear Reduction Trend: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Realized basket revenue drops monotonically by ~23% from low (0-10%) to high (21-30%) discount bands across all categories.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275" y="5441602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Higher discount bands consistently reduce realized transaction value across all product categories without increasing item units purchased per order, leading to net margin dilution.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3699718"/>
            <a:ext cx="11201400" cy="1041796"/>
          </a:xfrm>
          <a:prstGeom prst="roundRect">
            <a:avLst>
              <a:gd name="adj" fmla="val 10971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4874865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300" y="2771030"/>
            <a:ext cx="29055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00871" y="2771030"/>
            <a:ext cx="19466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7543" y="2771030"/>
            <a:ext cx="23535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01111" y="2771030"/>
            <a:ext cx="204847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49581" y="2771030"/>
            <a:ext cx="194711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300" y="3171080"/>
            <a:ext cx="29055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00871" y="3171080"/>
            <a:ext cx="19466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7543" y="3171080"/>
            <a:ext cx="23535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01111" y="3171080"/>
            <a:ext cx="204847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749581" y="3171080"/>
            <a:ext cx="194711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5300" y="3571130"/>
            <a:ext cx="29055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00871" y="3571130"/>
            <a:ext cx="1946671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47543" y="3571130"/>
            <a:ext cx="2353567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01111" y="3571130"/>
            <a:ext cx="2048470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749581" y="3571130"/>
            <a:ext cx="1947118" cy="9525"/>
          </a:xfrm>
          <a:prstGeom prst="rect">
            <a:avLst/>
          </a:prstGeom>
          <a:solidFill>
            <a:srgbClr val="D1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95300" y="1975693"/>
          <a:ext cx="11201397" cy="1609725"/>
        </p:xfrm>
        <a:graphic>
          <a:graphicData uri="http://schemas.openxmlformats.org/drawingml/2006/table">
            <a:tbl>
              <a:tblPr/>
              <a:tblGrid>
                <a:gridCol w="2905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3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43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Customer 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18 - 29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30 - 45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46 - 60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61 - 65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Premium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₹64,013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4E3B"/>
                          </a:solidFill>
                          <a:latin typeface="Plus Jakarta Sans"/>
                        </a:rPr>
                        <a:t>₹64,828 (Peak)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₹64,329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₹64,477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Regular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₹64,252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₹64,149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₹64,382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₹64,674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New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₹63,715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₹63,033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₹63,647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1382B"/>
                          </a:solidFill>
                          <a:latin typeface="Plus Jakarta Sans"/>
                        </a:rPr>
                        <a:t>₹63,404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95300" y="694580"/>
            <a:ext cx="236725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MULTIVARIATE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" y="1185118"/>
            <a:ext cx="5907066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Segment × Age Cohort Spending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" y="3842593"/>
            <a:ext cx="115538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Subgroup Variance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175" y="4118818"/>
            <a:ext cx="11010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Peak average spending occurs in the Premium 30-45 age group (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₹64,828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). However, the absolute variance across all 12 matrix cells is under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₹1,800 (&lt;2.8%)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4998690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Cross-tabulating customer tier and age reveals minimal spend variation across subgroups. High-value transactions occur equally across all customer demographics.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3877716"/>
            <a:ext cx="11201400" cy="765571"/>
          </a:xfrm>
          <a:prstGeom prst="roundRect">
            <a:avLst>
              <a:gd name="adj" fmla="val 14930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4776638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2073919"/>
            <a:ext cx="5495925" cy="1670446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00775" y="2073919"/>
            <a:ext cx="5495925" cy="1670446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" y="646363"/>
            <a:ext cx="225677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LOGISTICS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1157736"/>
            <a:ext cx="7280839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Shipping Speed Performance &amp; Return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4020591"/>
            <a:ext cx="11010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Delivery Duration vs Return Rate Correlation: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Spearman r = -0.006. Return rates remain bounded between 14.5% and 15.1% across all delivery durations (1 to 10 days).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4900463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Express shipping offers no delivery speed advantage over Standard shipping (5.50 vs 5.51 days). Fulfillment speed does not drive order returns in this dataset, pointing to product-level factors instead.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254894"/>
            <a:ext cx="6417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EXPRESS SHIPPING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2464444"/>
            <a:ext cx="641746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5.50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845444"/>
            <a:ext cx="6417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Average Delivery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083569"/>
            <a:ext cx="52292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Return Rate: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14.91%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 Delivers virtually identically to Standard shipping.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2254894"/>
            <a:ext cx="581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STANDARD SHIPPING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2464444"/>
            <a:ext cx="58102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5.51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2845444"/>
            <a:ext cx="5810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Average Delivery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083569"/>
            <a:ext cx="52292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Return Rate: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14.71%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 Achieves equivalent delivery speeds and return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3715791"/>
            <a:ext cx="11201400" cy="765571"/>
          </a:xfrm>
          <a:prstGeom prst="roundRect">
            <a:avLst>
              <a:gd name="adj" fmla="val 14930"/>
            </a:avLst>
          </a:prstGeom>
          <a:solidFill>
            <a:srgbClr val="E2EFE7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4614713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5300" y="2235844"/>
            <a:ext cx="5495925" cy="1346596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00775" y="2235844"/>
            <a:ext cx="5495925" cy="1346596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" y="877044"/>
            <a:ext cx="235859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STATISTICAL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1474142"/>
            <a:ext cx="7710444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ANOVA Hypothesis Testing &amp; Segment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3858666"/>
            <a:ext cx="11010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Statistical Synthesis: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Hypothesized differences in category and segment spend are not statistically supported by the data. Basket composition (Price × Quantity) remains the sole significant revenue determinant.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4738538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Rigorous one-way ANOVA testing confirms that categorical group means are statistically indistinguishable. Strategic initiatives should focus on basket expansion rather than category price discrimination.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416819"/>
            <a:ext cx="6417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ANOVA TEST 01: SEGMENT VS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2645419"/>
            <a:ext cx="6417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F-Statistic: 1.659 | p-value: 0.1904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921644"/>
            <a:ext cx="52292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Result: Fail to Reject H0 (p &gt; 0.05).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Mean spending does not differ significantly across customer tiers.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2416819"/>
            <a:ext cx="581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ANOVA TEST 02: CATEGORY VS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2645419"/>
            <a:ext cx="581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F-Statistic: 1.025 | p-value: 0.4008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2921644"/>
            <a:ext cx="52292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Result: Fail to Reject H0 (p &gt; 0.05).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Mean transaction value does not differ significantly across categories.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4481363"/>
            <a:ext cx="11201400" cy="727471"/>
          </a:xfrm>
          <a:prstGeom prst="roundRect">
            <a:avLst>
              <a:gd name="adj" fmla="val 10474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5300" y="2369194"/>
            <a:ext cx="3619500" cy="1845468"/>
          </a:xfrm>
          <a:prstGeom prst="roundRect">
            <a:avLst>
              <a:gd name="adj" fmla="val 6193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286250" y="2369194"/>
            <a:ext cx="3619500" cy="1845468"/>
          </a:xfrm>
          <a:prstGeom prst="roundRect">
            <a:avLst>
              <a:gd name="adj" fmla="val 6193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77200" y="2369194"/>
            <a:ext cx="3619500" cy="1845468"/>
          </a:xfrm>
          <a:prstGeom prst="roundRect">
            <a:avLst>
              <a:gd name="adj" fmla="val 6193"/>
            </a:avLst>
          </a:prstGeom>
          <a:solidFill>
            <a:srgbClr val="FFFFFF"/>
          </a:solidFill>
          <a:ln w="9525">
            <a:solidFill>
              <a:srgbClr val="D1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" y="852280"/>
            <a:ext cx="31138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STRATEGIC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1489176"/>
            <a:ext cx="5984010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Data-Driven Actionable Business Levers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4605188"/>
            <a:ext cx="10934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Analytical Interpretation: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Executing discount caps, basket-size bundling, and logistics SLA restructuring addresses the key operational vulnerabilities identified during exploratory analysis, directly protecting gross margins.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569219"/>
            <a:ext cx="402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STRATEGY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778769"/>
            <a:ext cx="4024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Tiered Discount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054994"/>
            <a:ext cx="33147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Replace flat discounting with volume-triggered tiers. Cap single-item discounts at 15% to protect margin on premium items.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275" y="2569219"/>
            <a:ext cx="402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STRATEGY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2778769"/>
            <a:ext cx="4024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Cross-Category Bundling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275" y="3054994"/>
            <a:ext cx="33147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Average units per order is 2.50. Introduce cross-category bundles (e.g., Health + Beauty) to push basket size past 3.5 units.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7225" y="2569219"/>
            <a:ext cx="39147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STRATEGY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7225" y="2778769"/>
            <a:ext cx="3914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6382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Logistics SLA Overhaul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3054994"/>
            <a:ext cx="33147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F473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Restructure Express carrier SLAs. Express currently delivers in 5.50 days—virtually identical to Standard (5.51 days).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37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defTabSz="457200">
              <a:defRPr/>
            </a:pPr>
            <a:r>
              <a:rPr lang="en-IN" b="1" dirty="0">
                <a:solidFill>
                  <a:srgbClr val="047857"/>
                </a:solidFill>
                <a:latin typeface="Space Grotesk"/>
              </a:rPr>
              <a:t>CONCLUSION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10012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43000" y="185623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427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Revenue (final_price) is right-skewed — a limited number of high-value orders pull the distribution's tail out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43000" y="2569464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427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"Health" is the highest-volume product category at 16.9% of all orders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43000" y="328269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427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"New" customer segment is the largest at 33.5% of customers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43000" y="399592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427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return rate is approximately 14.8% of orders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427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delivers marginally faster than Standard (5.50 vs 5.51 days)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143000" y="542239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427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and quantity are the strongest drivers of final_price; discounting trends with smaller baskets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E983-266C-FB08-D59C-91B42142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97393"/>
            <a:ext cx="10353762" cy="1403069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959433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26</TotalTime>
  <Words>2106</Words>
  <Application>Microsoft Office PowerPoint</Application>
  <PresentationFormat>Widescreen</PresentationFormat>
  <Paragraphs>371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Calisto MT</vt:lpstr>
      <vt:lpstr>Cambria</vt:lpstr>
      <vt:lpstr>Plus Jakarta Sans</vt:lpstr>
      <vt:lpstr>Space Grotesk</vt:lpstr>
      <vt:lpstr>Wingdings 2</vt:lpstr>
      <vt:lpstr>Slate</vt:lpstr>
      <vt:lpstr>Office Theme</vt:lpstr>
      <vt:lpstr>NextHikes IT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Shilpa Singh</dc:creator>
  <cp:lastModifiedBy>Shilpa Singh</cp:lastModifiedBy>
  <cp:revision>30</cp:revision>
  <dcterms:created xsi:type="dcterms:W3CDTF">2026-09-25T23:59:44Z</dcterms:created>
  <dcterms:modified xsi:type="dcterms:W3CDTF">2026-09-26T00:26:10Z</dcterms:modified>
</cp:coreProperties>
</file>